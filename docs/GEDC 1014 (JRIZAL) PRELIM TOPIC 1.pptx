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76" r:id="rId3"/>
    <p:sldId id="278" r:id="rId4"/>
    <p:sldId id="279" r:id="rId5"/>
    <p:sldId id="281" r:id="rId6"/>
    <p:sldId id="280" r:id="rId7"/>
    <p:sldId id="282" r:id="rId8"/>
    <p:sldId id="283" r:id="rId9"/>
    <p:sldId id="284" r:id="rId10"/>
    <p:sldId id="285" r:id="rId11"/>
    <p:sldId id="286" r:id="rId12"/>
    <p:sldId id="277" r:id="rId13"/>
    <p:sldId id="287" r:id="rId14"/>
    <p:sldId id="274" r:id="rId15"/>
    <p:sldId id="275"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03" autoAdjust="0"/>
    <p:restoredTop sz="94660"/>
  </p:normalViewPr>
  <p:slideViewPr>
    <p:cSldViewPr snapToGrid="0">
      <p:cViewPr varScale="1">
        <p:scale>
          <a:sx n="65" d="100"/>
          <a:sy n="65" d="100"/>
        </p:scale>
        <p:origin x="89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81B6DFD-A286-4CBD-83A7-98DAB7C48A11}" type="datetimeFigureOut">
              <a:rPr lang="en-US" smtClean="0"/>
              <a:t>8/11/2026</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AD59E6D3-885D-4776-8C32-DD1AB4B9A422}"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007393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81B6DFD-A286-4CBD-83A7-98DAB7C48A11}" type="datetimeFigureOut">
              <a:rPr lang="en-US" smtClean="0"/>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59E6D3-885D-4776-8C32-DD1AB4B9A422}"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671127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81B6DFD-A286-4CBD-83A7-98DAB7C48A11}" type="datetimeFigureOut">
              <a:rPr lang="en-US" smtClean="0"/>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59E6D3-885D-4776-8C32-DD1AB4B9A422}"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6837391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81B6DFD-A286-4CBD-83A7-98DAB7C48A11}" type="datetimeFigureOut">
              <a:rPr lang="en-US" smtClean="0"/>
              <a:t>8/11/2026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D59E6D3-885D-4776-8C32-DD1AB4B9A422}"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932295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81B6DFD-A286-4CBD-83A7-98DAB7C48A11}" type="datetimeFigureOut">
              <a:rPr lang="en-US" smtClean="0"/>
              <a:t>8/11/2026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D59E6D3-885D-4776-8C32-DD1AB4B9A422}"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446601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81B6DFD-A286-4CBD-83A7-98DAB7C48A11}" type="datetimeFigureOut">
              <a:rPr lang="en-US" smtClean="0"/>
              <a:t>8/11/2026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D59E6D3-885D-4776-8C32-DD1AB4B9A422}"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3219955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81B6DFD-A286-4CBD-83A7-98DAB7C48A11}" type="datetimeFigureOut">
              <a:rPr lang="en-US" smtClean="0"/>
              <a:t>8/11/2026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D59E6D3-885D-4776-8C32-DD1AB4B9A422}" type="slidenum">
              <a:rPr lang="en-US" smtClean="0"/>
              <a:t>‹#›</a:t>
            </a:fld>
            <a:endParaRPr lang="en-US"/>
          </a:p>
        </p:txBody>
      </p:sp>
    </p:spTree>
    <p:extLst>
      <p:ext uri="{BB962C8B-B14F-4D97-AF65-F5344CB8AC3E}">
        <p14:creationId xmlns:p14="http://schemas.microsoft.com/office/powerpoint/2010/main" val="2732181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81B6DFD-A286-4CBD-83A7-98DAB7C48A11}" type="datetimeFigureOut">
              <a:rPr lang="en-US" smtClean="0"/>
              <a:t>8/11/2026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D59E6D3-885D-4776-8C32-DD1AB4B9A422}"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645556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581B6DFD-A286-4CBD-83A7-98DAB7C48A11}" type="datetimeFigureOut">
              <a:rPr lang="en-US" smtClean="0"/>
              <a:t>8/11/2026</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AD59E6D3-885D-4776-8C32-DD1AB4B9A422}"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9803290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81B6DFD-A286-4CBD-83A7-98DAB7C48A11}" type="datetimeFigureOut">
              <a:rPr lang="en-US" smtClean="0"/>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59E6D3-885D-4776-8C32-DD1AB4B9A422}"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958031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81B6DFD-A286-4CBD-83A7-98DAB7C48A11}" type="datetimeFigureOut">
              <a:rPr lang="en-US" smtClean="0"/>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59E6D3-885D-4776-8C32-DD1AB4B9A422}"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989588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581B6DFD-A286-4CBD-83A7-98DAB7C48A11}" type="datetimeFigureOut">
              <a:rPr lang="en-US" smtClean="0"/>
              <a:t>8/11/2026</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AD59E6D3-885D-4776-8C32-DD1AB4B9A422}"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976725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F4EFA-34C0-DAB0-2BA6-ECF490145401}"/>
              </a:ext>
            </a:extLst>
          </p:cNvPr>
          <p:cNvSpPr>
            <a:spLocks noGrp="1"/>
          </p:cNvSpPr>
          <p:nvPr>
            <p:ph type="ctrTitle"/>
          </p:nvPr>
        </p:nvSpPr>
        <p:spPr>
          <a:xfrm>
            <a:off x="3854693" y="1029827"/>
            <a:ext cx="8637073" cy="2541431"/>
          </a:xfrm>
        </p:spPr>
        <p:txBody>
          <a:bodyPr/>
          <a:lstStyle/>
          <a:p>
            <a:r>
              <a:rPr lang="en-US" dirty="0"/>
              <a:t>GEDC 1014 (JRIZAL)</a:t>
            </a:r>
          </a:p>
        </p:txBody>
      </p:sp>
      <p:sp>
        <p:nvSpPr>
          <p:cNvPr id="3" name="Subtitle 2">
            <a:extLst>
              <a:ext uri="{FF2B5EF4-FFF2-40B4-BE49-F238E27FC236}">
                <a16:creationId xmlns:a16="http://schemas.microsoft.com/office/drawing/2014/main" id="{E4663FA0-C3A8-3061-A0C0-09B6E5529675}"/>
              </a:ext>
            </a:extLst>
          </p:cNvPr>
          <p:cNvSpPr>
            <a:spLocks noGrp="1"/>
          </p:cNvSpPr>
          <p:nvPr>
            <p:ph type="subTitle" idx="1"/>
          </p:nvPr>
        </p:nvSpPr>
        <p:spPr>
          <a:xfrm>
            <a:off x="4025189" y="3753272"/>
            <a:ext cx="7287245" cy="1524122"/>
          </a:xfrm>
        </p:spPr>
        <p:txBody>
          <a:bodyPr>
            <a:normAutofit/>
          </a:bodyPr>
          <a:lstStyle/>
          <a:p>
            <a:pPr algn="ctr"/>
            <a:r>
              <a:rPr lang="en-US" sz="3600" b="1" dirty="0">
                <a:solidFill>
                  <a:srgbClr val="000000"/>
                </a:solidFill>
                <a:effectLst/>
                <a:latin typeface="Roboto,Bold"/>
              </a:rPr>
              <a:t>RIZAL LAW (RA 1425)</a:t>
            </a:r>
            <a:endParaRPr lang="en-US" sz="3600" dirty="0"/>
          </a:p>
        </p:txBody>
      </p:sp>
      <p:pic>
        <p:nvPicPr>
          <p:cNvPr id="4" name="Picture 3">
            <a:extLst>
              <a:ext uri="{FF2B5EF4-FFF2-40B4-BE49-F238E27FC236}">
                <a16:creationId xmlns:a16="http://schemas.microsoft.com/office/drawing/2014/main" id="{A4B31B28-E188-86DC-E06A-2E036832F503}"/>
              </a:ext>
            </a:extLst>
          </p:cNvPr>
          <p:cNvPicPr>
            <a:picLocks noChangeAspect="1"/>
          </p:cNvPicPr>
          <p:nvPr/>
        </p:nvPicPr>
        <p:blipFill>
          <a:blip r:embed="rId2"/>
          <a:stretch>
            <a:fillRect/>
          </a:stretch>
        </p:blipFill>
        <p:spPr>
          <a:xfrm>
            <a:off x="0" y="454900"/>
            <a:ext cx="3670663" cy="4726700"/>
          </a:xfrm>
          <a:prstGeom prst="rect">
            <a:avLst/>
          </a:prstGeom>
        </p:spPr>
      </p:pic>
      <p:pic>
        <p:nvPicPr>
          <p:cNvPr id="5" name="Picture 4">
            <a:extLst>
              <a:ext uri="{FF2B5EF4-FFF2-40B4-BE49-F238E27FC236}">
                <a16:creationId xmlns:a16="http://schemas.microsoft.com/office/drawing/2014/main" id="{2A542221-E353-46C5-C391-D07AE1B7BE18}"/>
              </a:ext>
            </a:extLst>
          </p:cNvPr>
          <p:cNvPicPr>
            <a:picLocks noChangeAspect="1"/>
          </p:cNvPicPr>
          <p:nvPr/>
        </p:nvPicPr>
        <p:blipFill>
          <a:blip r:embed="rId3"/>
          <a:stretch>
            <a:fillRect/>
          </a:stretch>
        </p:blipFill>
        <p:spPr>
          <a:xfrm>
            <a:off x="6501571" y="569526"/>
            <a:ext cx="1786283" cy="1213209"/>
          </a:xfrm>
          <a:prstGeom prst="rect">
            <a:avLst/>
          </a:prstGeom>
        </p:spPr>
      </p:pic>
    </p:spTree>
    <p:extLst>
      <p:ext uri="{BB962C8B-B14F-4D97-AF65-F5344CB8AC3E}">
        <p14:creationId xmlns:p14="http://schemas.microsoft.com/office/powerpoint/2010/main" val="1419323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E9F36-E93A-E743-FA10-7B78BCF43089}"/>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C2183D9D-D417-995E-74EF-023A6DB78223}"/>
              </a:ext>
            </a:extLst>
          </p:cNvPr>
          <p:cNvSpPr>
            <a:spLocks noGrp="1"/>
          </p:cNvSpPr>
          <p:nvPr>
            <p:ph idx="1"/>
          </p:nvPr>
        </p:nvSpPr>
        <p:spPr/>
        <p:txBody>
          <a:bodyPr>
            <a:normAutofit/>
          </a:bodyPr>
          <a:lstStyle/>
          <a:p>
            <a:r>
              <a:rPr lang="en-US" dirty="0"/>
              <a:t>Rizal Law or Republic Act 1425 stands as a pivotal piece of legislation in the Philippines aimed at fostering a sense of national identity and patriotism among Filipinos. </a:t>
            </a:r>
          </a:p>
          <a:p>
            <a:pPr marL="0" indent="0">
              <a:buNone/>
            </a:pPr>
            <a:endParaRPr lang="en-US" dirty="0"/>
          </a:p>
          <a:p>
            <a:r>
              <a:rPr lang="en-US" dirty="0"/>
              <a:t>Enacted in 1956, the law mandates the inclusion of courses on the life, works, and writings of José Rizal, particularly his seminal novels </a:t>
            </a:r>
            <a:r>
              <a:rPr lang="en-US" i="1" dirty="0"/>
              <a:t>Noli Me Tangere </a:t>
            </a:r>
            <a:r>
              <a:rPr lang="en-US" dirty="0"/>
              <a:t>and </a:t>
            </a:r>
            <a:r>
              <a:rPr lang="en-US" i="1" dirty="0"/>
              <a:t>El </a:t>
            </a:r>
            <a:r>
              <a:rPr lang="en-US" i="1" dirty="0" err="1"/>
              <a:t>Filibusterismo</a:t>
            </a:r>
            <a:r>
              <a:rPr lang="en-US" dirty="0"/>
              <a:t>, in the curricula of all public and private educational institutions. </a:t>
            </a:r>
          </a:p>
        </p:txBody>
      </p:sp>
    </p:spTree>
    <p:extLst>
      <p:ext uri="{BB962C8B-B14F-4D97-AF65-F5344CB8AC3E}">
        <p14:creationId xmlns:p14="http://schemas.microsoft.com/office/powerpoint/2010/main" val="24484988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56D7E-8E82-57F6-A0E6-0035ED2602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24F683-EE99-A529-9A5A-11348EF1B5F1}"/>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69E8EC20-41F6-6653-A3D5-90B767610569}"/>
              </a:ext>
            </a:extLst>
          </p:cNvPr>
          <p:cNvSpPr>
            <a:spLocks noGrp="1"/>
          </p:cNvSpPr>
          <p:nvPr>
            <p:ph idx="1"/>
          </p:nvPr>
        </p:nvSpPr>
        <p:spPr/>
        <p:txBody>
          <a:bodyPr>
            <a:normAutofit fontScale="92500" lnSpcReduction="10000"/>
          </a:bodyPr>
          <a:lstStyle/>
          <a:p>
            <a:r>
              <a:rPr lang="en-US" dirty="0"/>
              <a:t>The legislation emerged during a period of heightened national consciousness and was championed by prominent figures such as Senator Claro M. Recto and Senator José P. Laurel. </a:t>
            </a:r>
          </a:p>
          <a:p>
            <a:pPr marL="0" indent="0">
              <a:buNone/>
            </a:pPr>
            <a:endParaRPr lang="en-US" dirty="0"/>
          </a:p>
          <a:p>
            <a:r>
              <a:rPr lang="en-US" dirty="0"/>
              <a:t>Despite facing significant opposition, particularly from the Catholic Church, the Rizal Law was passed to ensure that Rizal's ideals and principles continue to inspire future generations. </a:t>
            </a:r>
          </a:p>
          <a:p>
            <a:pPr marL="0" indent="0">
              <a:buNone/>
            </a:pPr>
            <a:endParaRPr lang="en-US" dirty="0"/>
          </a:p>
          <a:p>
            <a:r>
              <a:rPr lang="en-US" dirty="0"/>
              <a:t>The topic discussions delve into the key aspects of the Rizal Law, its historical development, and its implementation in the Philippine education system, highlighting its enduring significance.</a:t>
            </a:r>
          </a:p>
        </p:txBody>
      </p:sp>
    </p:spTree>
    <p:extLst>
      <p:ext uri="{BB962C8B-B14F-4D97-AF65-F5344CB8AC3E}">
        <p14:creationId xmlns:p14="http://schemas.microsoft.com/office/powerpoint/2010/main" val="2577709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BBEDA-5E8F-6702-9CF2-8D05626A7C33}"/>
              </a:ext>
            </a:extLst>
          </p:cNvPr>
          <p:cNvSpPr>
            <a:spLocks noGrp="1"/>
          </p:cNvSpPr>
          <p:nvPr>
            <p:ph type="title"/>
          </p:nvPr>
        </p:nvSpPr>
        <p:spPr/>
        <p:txBody>
          <a:bodyPr/>
          <a:lstStyle/>
          <a:p>
            <a:r>
              <a:rPr lang="en-US" dirty="0"/>
              <a:t>WHAT IS RIZAL LAW?</a:t>
            </a:r>
          </a:p>
        </p:txBody>
      </p:sp>
      <p:sp>
        <p:nvSpPr>
          <p:cNvPr id="3" name="Content Placeholder 2">
            <a:extLst>
              <a:ext uri="{FF2B5EF4-FFF2-40B4-BE49-F238E27FC236}">
                <a16:creationId xmlns:a16="http://schemas.microsoft.com/office/drawing/2014/main" id="{CF3A0B65-772E-C0C0-AE10-3C76D72480EE}"/>
              </a:ext>
            </a:extLst>
          </p:cNvPr>
          <p:cNvSpPr>
            <a:spLocks noGrp="1"/>
          </p:cNvSpPr>
          <p:nvPr>
            <p:ph idx="1"/>
          </p:nvPr>
        </p:nvSpPr>
        <p:spPr/>
        <p:txBody>
          <a:bodyPr>
            <a:normAutofit/>
          </a:bodyPr>
          <a:lstStyle/>
          <a:p>
            <a:r>
              <a:rPr lang="en-US" dirty="0"/>
              <a:t>Rizal Law (RA 1425) mandates the inclusion of courses on the life, works, and writings of José Rizal in the curricula of all public and private schools, colleges, and universities in the Philippines. </a:t>
            </a:r>
          </a:p>
          <a:p>
            <a:r>
              <a:rPr lang="en-US" dirty="0"/>
              <a:t>The law specifically requires the study of Rizal's novels </a:t>
            </a:r>
            <a:r>
              <a:rPr lang="en-US" i="1" dirty="0"/>
              <a:t>Noli Me Tangere </a:t>
            </a:r>
            <a:r>
              <a:rPr lang="en-US" dirty="0"/>
              <a:t>and </a:t>
            </a:r>
            <a:r>
              <a:rPr lang="en-US" i="1" dirty="0"/>
              <a:t>El </a:t>
            </a:r>
            <a:r>
              <a:rPr lang="en-US" i="1" dirty="0" err="1"/>
              <a:t>Filibusterismo</a:t>
            </a:r>
            <a:r>
              <a:rPr lang="en-US" dirty="0"/>
              <a:t>, which are considered instrumental in awakening Filipino nationalism and fostering a sense of identity and patriotism among the youth. </a:t>
            </a:r>
          </a:p>
          <a:p>
            <a:r>
              <a:rPr lang="en-US" dirty="0"/>
              <a:t>The law aims to honor Rizal's contributions to Philippine history and ensure that his ideals and principles continue to inspire future generations.</a:t>
            </a:r>
          </a:p>
        </p:txBody>
      </p:sp>
    </p:spTree>
    <p:extLst>
      <p:ext uri="{BB962C8B-B14F-4D97-AF65-F5344CB8AC3E}">
        <p14:creationId xmlns:p14="http://schemas.microsoft.com/office/powerpoint/2010/main" val="14489798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EA781-38B1-9F04-3FDE-C631AC8059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3D6CD6-367A-9BAC-7C6D-994B49F135FB}"/>
              </a:ext>
            </a:extLst>
          </p:cNvPr>
          <p:cNvSpPr>
            <a:spLocks noGrp="1"/>
          </p:cNvSpPr>
          <p:nvPr>
            <p:ph type="title"/>
          </p:nvPr>
        </p:nvSpPr>
        <p:spPr/>
        <p:txBody>
          <a:bodyPr/>
          <a:lstStyle/>
          <a:p>
            <a:r>
              <a:rPr lang="en-US" dirty="0"/>
              <a:t>HISTORY AND DEVELOPMENT OF RIZAL LAW</a:t>
            </a:r>
          </a:p>
        </p:txBody>
      </p:sp>
      <p:sp>
        <p:nvSpPr>
          <p:cNvPr id="3" name="Content Placeholder 2">
            <a:extLst>
              <a:ext uri="{FF2B5EF4-FFF2-40B4-BE49-F238E27FC236}">
                <a16:creationId xmlns:a16="http://schemas.microsoft.com/office/drawing/2014/main" id="{75C14151-1FC9-C7DE-511B-D63B0C8DD997}"/>
              </a:ext>
            </a:extLst>
          </p:cNvPr>
          <p:cNvSpPr>
            <a:spLocks noGrp="1"/>
          </p:cNvSpPr>
          <p:nvPr>
            <p:ph idx="1"/>
          </p:nvPr>
        </p:nvSpPr>
        <p:spPr/>
        <p:txBody>
          <a:bodyPr>
            <a:normAutofit lnSpcReduction="10000"/>
          </a:bodyPr>
          <a:lstStyle/>
          <a:p>
            <a:r>
              <a:rPr lang="en-US" dirty="0"/>
              <a:t>The Rizal Law was enacted on June 12, 1956, during the administration of President Ramon Magsaysay. </a:t>
            </a:r>
          </a:p>
          <a:p>
            <a:pPr marL="0" indent="0">
              <a:buNone/>
            </a:pPr>
            <a:endParaRPr lang="en-US" dirty="0"/>
          </a:p>
          <a:p>
            <a:r>
              <a:rPr lang="en-US" dirty="0"/>
              <a:t>The bill was primarily authored by Senator Claro M. Recto and co-authored by Senator José P. Laurel. </a:t>
            </a:r>
          </a:p>
          <a:p>
            <a:pPr marL="0" indent="0">
              <a:buNone/>
            </a:pPr>
            <a:endParaRPr lang="en-US" dirty="0"/>
          </a:p>
          <a:p>
            <a:r>
              <a:rPr lang="en-US" dirty="0"/>
              <a:t>The proposal faced significant opposition, particularly from the Catholic Church, which objected to the anti-clerical themes present in Rizal's novels. </a:t>
            </a:r>
          </a:p>
        </p:txBody>
      </p:sp>
    </p:spTree>
    <p:extLst>
      <p:ext uri="{BB962C8B-B14F-4D97-AF65-F5344CB8AC3E}">
        <p14:creationId xmlns:p14="http://schemas.microsoft.com/office/powerpoint/2010/main" val="10337728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DFFE3-4539-9140-8887-42DC06A1FB77}"/>
              </a:ext>
            </a:extLst>
          </p:cNvPr>
          <p:cNvSpPr>
            <a:spLocks noGrp="1"/>
          </p:cNvSpPr>
          <p:nvPr>
            <p:ph type="title"/>
          </p:nvPr>
        </p:nvSpPr>
        <p:spPr/>
        <p:txBody>
          <a:bodyPr/>
          <a:lstStyle/>
          <a:p>
            <a:r>
              <a:rPr lang="en-US" dirty="0"/>
              <a:t>HISTORY AND DEVELOPMENT OF RIZAL LAW</a:t>
            </a:r>
          </a:p>
        </p:txBody>
      </p:sp>
      <p:sp>
        <p:nvSpPr>
          <p:cNvPr id="3" name="Content Placeholder 2">
            <a:extLst>
              <a:ext uri="{FF2B5EF4-FFF2-40B4-BE49-F238E27FC236}">
                <a16:creationId xmlns:a16="http://schemas.microsoft.com/office/drawing/2014/main" id="{9EEFAEBD-C9CE-2DB1-7DBA-159536882731}"/>
              </a:ext>
            </a:extLst>
          </p:cNvPr>
          <p:cNvSpPr>
            <a:spLocks noGrp="1"/>
          </p:cNvSpPr>
          <p:nvPr>
            <p:ph idx="1"/>
          </p:nvPr>
        </p:nvSpPr>
        <p:spPr/>
        <p:txBody>
          <a:bodyPr>
            <a:normAutofit/>
          </a:bodyPr>
          <a:lstStyle/>
          <a:p>
            <a:r>
              <a:rPr lang="en-US" dirty="0"/>
              <a:t>Despite the intense debates and resistance, the proponents of the bill argued that the study of Rizal's works was essential for fostering a sense of national pride and consciousness. </a:t>
            </a:r>
          </a:p>
          <a:p>
            <a:endParaRPr lang="en-US" dirty="0"/>
          </a:p>
          <a:p>
            <a:r>
              <a:rPr lang="en-US" dirty="0"/>
              <a:t>The bill was eventually passed with a provision allowing students to be exempted from reading the unexpurgated versions of the novels for religious reasons, provided they submit a sworn written statement.</a:t>
            </a:r>
          </a:p>
        </p:txBody>
      </p:sp>
    </p:spTree>
    <p:extLst>
      <p:ext uri="{BB962C8B-B14F-4D97-AF65-F5344CB8AC3E}">
        <p14:creationId xmlns:p14="http://schemas.microsoft.com/office/powerpoint/2010/main" val="13094177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F6875-D0A0-48F0-B4B5-6D54EFE77436}"/>
              </a:ext>
            </a:extLst>
          </p:cNvPr>
          <p:cNvSpPr>
            <a:spLocks noGrp="1"/>
          </p:cNvSpPr>
          <p:nvPr>
            <p:ph type="title"/>
          </p:nvPr>
        </p:nvSpPr>
        <p:spPr/>
        <p:txBody>
          <a:bodyPr/>
          <a:lstStyle/>
          <a:p>
            <a:r>
              <a:rPr lang="en-US" dirty="0"/>
              <a:t>WHY DO WE HAVE RIZAL LAW?</a:t>
            </a:r>
          </a:p>
        </p:txBody>
      </p:sp>
      <p:sp>
        <p:nvSpPr>
          <p:cNvPr id="3" name="Content Placeholder 2">
            <a:extLst>
              <a:ext uri="{FF2B5EF4-FFF2-40B4-BE49-F238E27FC236}">
                <a16:creationId xmlns:a16="http://schemas.microsoft.com/office/drawing/2014/main" id="{B1A2FAFC-CA99-D6CA-C93A-2564DA820393}"/>
              </a:ext>
            </a:extLst>
          </p:cNvPr>
          <p:cNvSpPr>
            <a:spLocks noGrp="1"/>
          </p:cNvSpPr>
          <p:nvPr>
            <p:ph idx="1"/>
          </p:nvPr>
        </p:nvSpPr>
        <p:spPr>
          <a:xfrm>
            <a:off x="341194" y="2015732"/>
            <a:ext cx="11300345" cy="3770919"/>
          </a:xfrm>
        </p:spPr>
        <p:txBody>
          <a:bodyPr>
            <a:normAutofit/>
          </a:bodyPr>
          <a:lstStyle/>
          <a:p>
            <a:pPr>
              <a:buNone/>
            </a:pPr>
            <a:r>
              <a:rPr lang="en-US" sz="2000" dirty="0">
                <a:solidFill>
                  <a:srgbClr val="000000"/>
                </a:solidFill>
                <a:effectLst/>
                <a:latin typeface="Calibri" panose="020F0502020204030204" pitchFamily="34" charset="0"/>
              </a:rPr>
              <a:t>The promulgation of the Rizal Law is a result of various factors that stem from the search of Filipinos for their identity as a nation. In particular, the following key factors served as the fuel for the creation of this law:</a:t>
            </a:r>
          </a:p>
          <a:p>
            <a:pPr>
              <a:buNone/>
            </a:pPr>
            <a:endParaRPr lang="en-US" sz="2000" dirty="0">
              <a:solidFill>
                <a:srgbClr val="000000"/>
              </a:solidFill>
              <a:effectLst/>
              <a:latin typeface="Calibri" panose="020F0502020204030204" pitchFamily="34" charset="0"/>
            </a:endParaRPr>
          </a:p>
          <a:p>
            <a:pPr marL="457200" indent="-457200">
              <a:buAutoNum type="arabicPeriod"/>
            </a:pPr>
            <a:r>
              <a:rPr lang="en-US" dirty="0">
                <a:solidFill>
                  <a:srgbClr val="000000"/>
                </a:solidFill>
                <a:latin typeface="Calibri" panose="020F0502020204030204" pitchFamily="34" charset="0"/>
              </a:rPr>
              <a:t>Promotion of Nationalism and Patriotism</a:t>
            </a:r>
          </a:p>
          <a:p>
            <a:pPr marL="457200" indent="-457200">
              <a:buAutoNum type="arabicPeriod"/>
            </a:pPr>
            <a:r>
              <a:rPr lang="en-US" dirty="0">
                <a:solidFill>
                  <a:srgbClr val="000000"/>
                </a:solidFill>
                <a:latin typeface="Calibri" panose="020F0502020204030204" pitchFamily="34" charset="0"/>
              </a:rPr>
              <a:t>Educational Reform</a:t>
            </a:r>
          </a:p>
          <a:p>
            <a:pPr marL="457200" indent="-457200">
              <a:buAutoNum type="arabicPeriod"/>
            </a:pPr>
            <a:r>
              <a:rPr lang="en-US" dirty="0">
                <a:solidFill>
                  <a:srgbClr val="000000"/>
                </a:solidFill>
                <a:latin typeface="Calibri" panose="020F0502020204030204" pitchFamily="34" charset="0"/>
              </a:rPr>
              <a:t>Counteracting Colonial Mentality</a:t>
            </a:r>
          </a:p>
          <a:p>
            <a:pPr marL="457200" indent="-457200">
              <a:buAutoNum type="arabicPeriod"/>
            </a:pPr>
            <a:r>
              <a:rPr lang="en-US" dirty="0">
                <a:solidFill>
                  <a:srgbClr val="000000"/>
                </a:solidFill>
                <a:latin typeface="Calibri" panose="020F0502020204030204" pitchFamily="34" charset="0"/>
              </a:rPr>
              <a:t>Response to Contemporary Issues</a:t>
            </a:r>
            <a:endParaRPr lang="en-US" dirty="0"/>
          </a:p>
        </p:txBody>
      </p:sp>
    </p:spTree>
    <p:extLst>
      <p:ext uri="{BB962C8B-B14F-4D97-AF65-F5344CB8AC3E}">
        <p14:creationId xmlns:p14="http://schemas.microsoft.com/office/powerpoint/2010/main" val="35823067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F63D34-0787-D151-660A-0283EC7861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AF0BAA-8C69-C870-1E80-AF617C02CC38}"/>
              </a:ext>
            </a:extLst>
          </p:cNvPr>
          <p:cNvSpPr>
            <a:spLocks noGrp="1"/>
          </p:cNvSpPr>
          <p:nvPr>
            <p:ph type="title"/>
          </p:nvPr>
        </p:nvSpPr>
        <p:spPr/>
        <p:txBody>
          <a:bodyPr/>
          <a:lstStyle/>
          <a:p>
            <a:r>
              <a:rPr lang="en-US" dirty="0"/>
              <a:t>WHY DO WE HAVE RIZAL LAW?</a:t>
            </a:r>
          </a:p>
        </p:txBody>
      </p:sp>
      <p:sp>
        <p:nvSpPr>
          <p:cNvPr id="3" name="Content Placeholder 2">
            <a:extLst>
              <a:ext uri="{FF2B5EF4-FFF2-40B4-BE49-F238E27FC236}">
                <a16:creationId xmlns:a16="http://schemas.microsoft.com/office/drawing/2014/main" id="{92ECECFC-0D4C-7411-C6DB-E833F921A4EB}"/>
              </a:ext>
            </a:extLst>
          </p:cNvPr>
          <p:cNvSpPr>
            <a:spLocks noGrp="1"/>
          </p:cNvSpPr>
          <p:nvPr>
            <p:ph idx="1"/>
          </p:nvPr>
        </p:nvSpPr>
        <p:spPr>
          <a:xfrm>
            <a:off x="341194" y="2015732"/>
            <a:ext cx="11300345" cy="3770919"/>
          </a:xfrm>
        </p:spPr>
        <p:txBody>
          <a:bodyPr>
            <a:normAutofit/>
          </a:bodyPr>
          <a:lstStyle/>
          <a:p>
            <a:pPr>
              <a:buNone/>
            </a:pPr>
            <a:r>
              <a:rPr lang="en-US" b="1" dirty="0">
                <a:solidFill>
                  <a:srgbClr val="000000"/>
                </a:solidFill>
                <a:latin typeface="Calibri" panose="020F0502020204030204" pitchFamily="34" charset="0"/>
              </a:rPr>
              <a:t>Promotion of Nationalism and Patriotism</a:t>
            </a:r>
          </a:p>
          <a:p>
            <a:r>
              <a:rPr lang="en-US" dirty="0"/>
              <a:t>During the mid-20th century, the Philippines was in a period of nation-building and seeking to strengthen its national identity. </a:t>
            </a:r>
          </a:p>
          <a:p>
            <a:r>
              <a:rPr lang="en-US" dirty="0"/>
              <a:t>The government recognized the importance of instilling a sense of nationalism and patriotism among Filipinos, especially the youth. </a:t>
            </a:r>
          </a:p>
          <a:p>
            <a:r>
              <a:rPr lang="en-US" dirty="0"/>
              <a:t>José Rizal, as a national hero, symbolized the struggle for freedom and the fight against colonial oppression. His works, particularly </a:t>
            </a:r>
            <a:r>
              <a:rPr lang="en-US" i="1" dirty="0"/>
              <a:t>Noli Me Tangere </a:t>
            </a:r>
            <a:r>
              <a:rPr lang="en-US" dirty="0"/>
              <a:t>and </a:t>
            </a:r>
            <a:r>
              <a:rPr lang="en-US" i="1" dirty="0"/>
              <a:t>El </a:t>
            </a:r>
            <a:r>
              <a:rPr lang="en-US" i="1" dirty="0" err="1"/>
              <a:t>Filibusterismo</a:t>
            </a:r>
            <a:r>
              <a:rPr lang="en-US" dirty="0"/>
              <a:t>, were seen as powerful tools to inspire and educate Filipinos about their history and the values of justice, equality and freedom (the sense of democracy)</a:t>
            </a:r>
            <a:endParaRPr lang="en-US" b="1" dirty="0">
              <a:solidFill>
                <a:srgbClr val="000000"/>
              </a:solidFill>
              <a:latin typeface="Calibri" panose="020F0502020204030204" pitchFamily="34" charset="0"/>
            </a:endParaRPr>
          </a:p>
        </p:txBody>
      </p:sp>
    </p:spTree>
    <p:extLst>
      <p:ext uri="{BB962C8B-B14F-4D97-AF65-F5344CB8AC3E}">
        <p14:creationId xmlns:p14="http://schemas.microsoft.com/office/powerpoint/2010/main" val="22726954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7B7ECB-906D-7258-136D-F04AD21282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CBB63B-FE12-A7E4-90E9-B0DF42B5FCFC}"/>
              </a:ext>
            </a:extLst>
          </p:cNvPr>
          <p:cNvSpPr>
            <a:spLocks noGrp="1"/>
          </p:cNvSpPr>
          <p:nvPr>
            <p:ph type="title"/>
          </p:nvPr>
        </p:nvSpPr>
        <p:spPr/>
        <p:txBody>
          <a:bodyPr/>
          <a:lstStyle/>
          <a:p>
            <a:r>
              <a:rPr lang="en-US" dirty="0"/>
              <a:t>WHY DO WE HAVE RIZAL LAW?</a:t>
            </a:r>
          </a:p>
        </p:txBody>
      </p:sp>
      <p:sp>
        <p:nvSpPr>
          <p:cNvPr id="3" name="Content Placeholder 2">
            <a:extLst>
              <a:ext uri="{FF2B5EF4-FFF2-40B4-BE49-F238E27FC236}">
                <a16:creationId xmlns:a16="http://schemas.microsoft.com/office/drawing/2014/main" id="{66E5BEF9-5584-B6D8-7DDA-6AB8BAC3859E}"/>
              </a:ext>
            </a:extLst>
          </p:cNvPr>
          <p:cNvSpPr>
            <a:spLocks noGrp="1"/>
          </p:cNvSpPr>
          <p:nvPr>
            <p:ph idx="1"/>
          </p:nvPr>
        </p:nvSpPr>
        <p:spPr>
          <a:xfrm>
            <a:off x="341194" y="2015732"/>
            <a:ext cx="11300345" cy="3770919"/>
          </a:xfrm>
        </p:spPr>
        <p:txBody>
          <a:bodyPr>
            <a:normAutofit/>
          </a:bodyPr>
          <a:lstStyle/>
          <a:p>
            <a:pPr marL="0" indent="0">
              <a:buNone/>
            </a:pPr>
            <a:r>
              <a:rPr lang="en-US" b="1" dirty="0"/>
              <a:t>Educational Reform </a:t>
            </a:r>
            <a:endParaRPr lang="en-US" dirty="0"/>
          </a:p>
          <a:p>
            <a:r>
              <a:rPr lang="en-US" dirty="0"/>
              <a:t>The Rizal Law aimed to reform the educational system by incorporating the study of Rizal's life and works into the curriculum. </a:t>
            </a:r>
          </a:p>
          <a:p>
            <a:r>
              <a:rPr lang="en-US" dirty="0"/>
              <a:t>This was intended to provide the Filipino youth with deeper understanding of the historical context of the Philippines and the contributions of Rizal to the country's independence movement. </a:t>
            </a:r>
          </a:p>
          <a:p>
            <a:r>
              <a:rPr lang="en-US" dirty="0"/>
              <a:t>By studying Rizal's writings, the youth would be encouraged to think critically about social and political issues and develop a sense of civic responsibility in building a nation for pride, respecting for human dignity and peace.</a:t>
            </a:r>
            <a:endParaRPr lang="en-US" b="1" dirty="0">
              <a:solidFill>
                <a:srgbClr val="000000"/>
              </a:solidFill>
              <a:latin typeface="Calibri" panose="020F0502020204030204" pitchFamily="34" charset="0"/>
            </a:endParaRPr>
          </a:p>
        </p:txBody>
      </p:sp>
    </p:spTree>
    <p:extLst>
      <p:ext uri="{BB962C8B-B14F-4D97-AF65-F5344CB8AC3E}">
        <p14:creationId xmlns:p14="http://schemas.microsoft.com/office/powerpoint/2010/main" val="6546239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28624-E613-8DA8-84F9-669A2B8801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389EDE-F73A-FA5A-5212-9303D3CEB4F8}"/>
              </a:ext>
            </a:extLst>
          </p:cNvPr>
          <p:cNvSpPr>
            <a:spLocks noGrp="1"/>
          </p:cNvSpPr>
          <p:nvPr>
            <p:ph type="title"/>
          </p:nvPr>
        </p:nvSpPr>
        <p:spPr/>
        <p:txBody>
          <a:bodyPr/>
          <a:lstStyle/>
          <a:p>
            <a:r>
              <a:rPr lang="en-US" dirty="0"/>
              <a:t>WHY DO WE HAVE RIZAL LAW?</a:t>
            </a:r>
          </a:p>
        </p:txBody>
      </p:sp>
      <p:sp>
        <p:nvSpPr>
          <p:cNvPr id="3" name="Content Placeholder 2">
            <a:extLst>
              <a:ext uri="{FF2B5EF4-FFF2-40B4-BE49-F238E27FC236}">
                <a16:creationId xmlns:a16="http://schemas.microsoft.com/office/drawing/2014/main" id="{F26C1C31-999A-0EF8-DDD8-0C280394586E}"/>
              </a:ext>
            </a:extLst>
          </p:cNvPr>
          <p:cNvSpPr>
            <a:spLocks noGrp="1"/>
          </p:cNvSpPr>
          <p:nvPr>
            <p:ph idx="1"/>
          </p:nvPr>
        </p:nvSpPr>
        <p:spPr>
          <a:xfrm>
            <a:off x="341194" y="2015732"/>
            <a:ext cx="11163869" cy="4842268"/>
          </a:xfrm>
        </p:spPr>
        <p:txBody>
          <a:bodyPr>
            <a:normAutofit/>
          </a:bodyPr>
          <a:lstStyle/>
          <a:p>
            <a:pPr marL="0" indent="0">
              <a:buNone/>
            </a:pPr>
            <a:r>
              <a:rPr lang="en-US" b="1" dirty="0"/>
              <a:t>Counteracting Colonial Mentality </a:t>
            </a:r>
          </a:p>
          <a:p>
            <a:r>
              <a:rPr lang="en-US" dirty="0"/>
              <a:t>The Philippines had been under Spanish, American, and Japanese colonial rule for centuries, which had a profound impact on the Filipino psyche. </a:t>
            </a:r>
          </a:p>
          <a:p>
            <a:r>
              <a:rPr lang="en-US" dirty="0"/>
              <a:t>There was a need to counteract the colonial mentality that had developed over time and to promote a sense of pride in Filipino heritage and identity. </a:t>
            </a:r>
          </a:p>
          <a:p>
            <a:r>
              <a:rPr lang="en-US" dirty="0"/>
              <a:t>The Rizal Law sought to achieve this by highlighting Rizal's achievements and sacrifices, thereby fostering a sense of pride and self-worth among Filipinos.</a:t>
            </a:r>
            <a:endParaRPr lang="en-US" b="1" dirty="0">
              <a:solidFill>
                <a:srgbClr val="000000"/>
              </a:solidFill>
              <a:latin typeface="Calibri" panose="020F0502020204030204" pitchFamily="34" charset="0"/>
            </a:endParaRPr>
          </a:p>
        </p:txBody>
      </p:sp>
    </p:spTree>
    <p:extLst>
      <p:ext uri="{BB962C8B-B14F-4D97-AF65-F5344CB8AC3E}">
        <p14:creationId xmlns:p14="http://schemas.microsoft.com/office/powerpoint/2010/main" val="40908849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03E4A1-BAC5-4A56-6B7C-72D975B7F9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FFE7BA-B814-EB9C-9A83-69A6B0C4AF1D}"/>
              </a:ext>
            </a:extLst>
          </p:cNvPr>
          <p:cNvSpPr>
            <a:spLocks noGrp="1"/>
          </p:cNvSpPr>
          <p:nvPr>
            <p:ph type="title"/>
          </p:nvPr>
        </p:nvSpPr>
        <p:spPr/>
        <p:txBody>
          <a:bodyPr/>
          <a:lstStyle/>
          <a:p>
            <a:r>
              <a:rPr lang="en-US" dirty="0"/>
              <a:t>WHY DO WE HAVE RIZAL LAW?</a:t>
            </a:r>
          </a:p>
        </p:txBody>
      </p:sp>
      <p:sp>
        <p:nvSpPr>
          <p:cNvPr id="3" name="Content Placeholder 2">
            <a:extLst>
              <a:ext uri="{FF2B5EF4-FFF2-40B4-BE49-F238E27FC236}">
                <a16:creationId xmlns:a16="http://schemas.microsoft.com/office/drawing/2014/main" id="{78C357DF-D662-A18D-90F0-AC3B9FB6C889}"/>
              </a:ext>
            </a:extLst>
          </p:cNvPr>
          <p:cNvSpPr>
            <a:spLocks noGrp="1"/>
          </p:cNvSpPr>
          <p:nvPr>
            <p:ph idx="1"/>
          </p:nvPr>
        </p:nvSpPr>
        <p:spPr>
          <a:xfrm>
            <a:off x="341194" y="2015732"/>
            <a:ext cx="11163869" cy="4842268"/>
          </a:xfrm>
        </p:spPr>
        <p:txBody>
          <a:bodyPr>
            <a:normAutofit/>
          </a:bodyPr>
          <a:lstStyle/>
          <a:p>
            <a:pPr marL="0" indent="0">
              <a:buNone/>
            </a:pPr>
            <a:r>
              <a:rPr lang="en-US" b="1" dirty="0"/>
              <a:t>Response to Contemporary Issues </a:t>
            </a:r>
            <a:endParaRPr lang="en-US" dirty="0"/>
          </a:p>
          <a:p>
            <a:r>
              <a:rPr lang="en-US" dirty="0"/>
              <a:t>During the 1950s, the Philippines faced various social and political challenges, including corruption, inequality, and a lack of national unity. </a:t>
            </a:r>
          </a:p>
          <a:p>
            <a:r>
              <a:rPr lang="en-US" dirty="0"/>
              <a:t>The proponents of the Rizal Law believed that by studying Rizal's works, Filipinos could draw lessons from the past and apply them to contemporary issues. </a:t>
            </a:r>
          </a:p>
          <a:p>
            <a:r>
              <a:rPr lang="en-US" dirty="0"/>
              <a:t>Rizal's advocacy for peaceful reform, education, and civic virtues was seen as relevant and necessary for addressing the problems of the time.</a:t>
            </a:r>
            <a:endParaRPr lang="en-US" b="1" dirty="0">
              <a:solidFill>
                <a:srgbClr val="000000"/>
              </a:solidFill>
              <a:latin typeface="Calibri" panose="020F0502020204030204" pitchFamily="34" charset="0"/>
            </a:endParaRPr>
          </a:p>
        </p:txBody>
      </p:sp>
    </p:spTree>
    <p:extLst>
      <p:ext uri="{BB962C8B-B14F-4D97-AF65-F5344CB8AC3E}">
        <p14:creationId xmlns:p14="http://schemas.microsoft.com/office/powerpoint/2010/main" val="28478724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47D9B-A448-1F47-520D-0BA00FF19A1F}"/>
              </a:ext>
            </a:extLst>
          </p:cNvPr>
          <p:cNvSpPr>
            <a:spLocks noGrp="1"/>
          </p:cNvSpPr>
          <p:nvPr>
            <p:ph type="title"/>
          </p:nvPr>
        </p:nvSpPr>
        <p:spPr>
          <a:xfrm>
            <a:off x="2306986" y="568545"/>
            <a:ext cx="8341350" cy="1049235"/>
          </a:xfrm>
        </p:spPr>
        <p:txBody>
          <a:bodyPr/>
          <a:lstStyle/>
          <a:p>
            <a:r>
              <a:rPr lang="en-US" dirty="0"/>
              <a:t>IMPLEMENTATION OF RIZAL LAW </a:t>
            </a:r>
            <a:br>
              <a:rPr lang="en-US" dirty="0"/>
            </a:br>
            <a:r>
              <a:rPr lang="en-US" dirty="0"/>
              <a:t>             IN THE PHILIPPINES</a:t>
            </a:r>
          </a:p>
        </p:txBody>
      </p:sp>
      <p:sp>
        <p:nvSpPr>
          <p:cNvPr id="3" name="Content Placeholder 2">
            <a:extLst>
              <a:ext uri="{FF2B5EF4-FFF2-40B4-BE49-F238E27FC236}">
                <a16:creationId xmlns:a16="http://schemas.microsoft.com/office/drawing/2014/main" id="{F777733C-CC53-67FD-4DEB-6CB255A2C999}"/>
              </a:ext>
            </a:extLst>
          </p:cNvPr>
          <p:cNvSpPr>
            <a:spLocks noGrp="1"/>
          </p:cNvSpPr>
          <p:nvPr>
            <p:ph idx="1"/>
          </p:nvPr>
        </p:nvSpPr>
        <p:spPr>
          <a:xfrm>
            <a:off x="1047135" y="1617780"/>
            <a:ext cx="10545097" cy="4502801"/>
          </a:xfrm>
        </p:spPr>
        <p:txBody>
          <a:bodyPr>
            <a:normAutofit/>
          </a:bodyPr>
          <a:lstStyle/>
          <a:p>
            <a:pPr marL="0" indent="0">
              <a:buNone/>
            </a:pPr>
            <a:endParaRPr lang="en-US" dirty="0"/>
          </a:p>
          <a:p>
            <a:r>
              <a:rPr lang="en-US" dirty="0"/>
              <a:t>The implementation of the Rizal Law involves the integration of Rizal's life and works into the educational curriculum at various levels. </a:t>
            </a:r>
          </a:p>
          <a:p>
            <a:r>
              <a:rPr lang="en-US" dirty="0"/>
              <a:t>The Board of National Education was tasked with creating and distributing appropriate primers, readers, and textbooks to facilitate the teaching of Rizal's works. </a:t>
            </a:r>
          </a:p>
          <a:p>
            <a:r>
              <a:rPr lang="en-US" dirty="0"/>
              <a:t>Educational institutions are required to use the original or unexpurgated editions of Noli Me Tangere and El </a:t>
            </a:r>
            <a:r>
              <a:rPr lang="en-US" dirty="0" err="1"/>
              <a:t>Filibusterismo</a:t>
            </a:r>
            <a:r>
              <a:rPr lang="en-US" dirty="0"/>
              <a:t> or their English translations as basic texts in collegiate courses.</a:t>
            </a:r>
          </a:p>
          <a:p>
            <a:r>
              <a:rPr lang="en-US" dirty="0"/>
              <a:t>The law also mandates the printing and distribution of Rizal's works to ensure accessibility for educational purposes.</a:t>
            </a:r>
          </a:p>
        </p:txBody>
      </p:sp>
    </p:spTree>
    <p:extLst>
      <p:ext uri="{BB962C8B-B14F-4D97-AF65-F5344CB8AC3E}">
        <p14:creationId xmlns:p14="http://schemas.microsoft.com/office/powerpoint/2010/main" val="11273460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68831-4626-7539-9CF9-ECACA2F31F16}"/>
              </a:ext>
            </a:extLst>
          </p:cNvPr>
          <p:cNvSpPr>
            <a:spLocks noGrp="1"/>
          </p:cNvSpPr>
          <p:nvPr>
            <p:ph type="title"/>
          </p:nvPr>
        </p:nvSpPr>
        <p:spPr>
          <a:xfrm>
            <a:off x="2719941" y="627538"/>
            <a:ext cx="7500692" cy="1049235"/>
          </a:xfrm>
        </p:spPr>
        <p:txBody>
          <a:bodyPr/>
          <a:lstStyle/>
          <a:p>
            <a:r>
              <a:rPr kumimoji="0" lang="en-US" sz="3200" b="0" i="0" u="none" strike="noStrike" kern="1200" cap="all" spc="0" normalizeH="0" baseline="0" noProof="0" dirty="0">
                <a:ln>
                  <a:noFill/>
                </a:ln>
                <a:solidFill>
                  <a:prstClr val="black"/>
                </a:solidFill>
                <a:effectLst/>
                <a:uLnTx/>
                <a:uFillTx/>
                <a:latin typeface="Gill Sans MT" panose="020B0502020104020203"/>
                <a:ea typeface="+mj-ea"/>
                <a:cs typeface="+mj-cs"/>
              </a:rPr>
              <a:t>IMPLEMENTATION OF RIZAL LAW </a:t>
            </a:r>
            <a:br>
              <a:rPr kumimoji="0" lang="en-US" sz="3200" b="0" i="0" u="none" strike="noStrike" kern="1200" cap="all" spc="0" normalizeH="0" baseline="0" noProof="0" dirty="0">
                <a:ln>
                  <a:noFill/>
                </a:ln>
                <a:solidFill>
                  <a:prstClr val="black"/>
                </a:solidFill>
                <a:effectLst/>
                <a:uLnTx/>
                <a:uFillTx/>
                <a:latin typeface="Gill Sans MT" panose="020B0502020104020203"/>
                <a:ea typeface="+mj-ea"/>
                <a:cs typeface="+mj-cs"/>
              </a:rPr>
            </a:br>
            <a:r>
              <a:rPr kumimoji="0" lang="en-US" sz="3200" b="0" i="0" u="none" strike="noStrike" kern="1200" cap="all" spc="0" normalizeH="0" baseline="0" noProof="0" dirty="0">
                <a:ln>
                  <a:noFill/>
                </a:ln>
                <a:solidFill>
                  <a:prstClr val="black"/>
                </a:solidFill>
                <a:effectLst/>
                <a:uLnTx/>
                <a:uFillTx/>
                <a:latin typeface="Gill Sans MT" panose="020B0502020104020203"/>
                <a:ea typeface="+mj-ea"/>
                <a:cs typeface="+mj-cs"/>
              </a:rPr>
              <a:t>             IN THE PHILIPPINES</a:t>
            </a:r>
            <a:endParaRPr lang="en-US" dirty="0"/>
          </a:p>
        </p:txBody>
      </p:sp>
      <p:sp>
        <p:nvSpPr>
          <p:cNvPr id="3" name="Content Placeholder 2">
            <a:extLst>
              <a:ext uri="{FF2B5EF4-FFF2-40B4-BE49-F238E27FC236}">
                <a16:creationId xmlns:a16="http://schemas.microsoft.com/office/drawing/2014/main" id="{B337FA5A-3492-A552-9A2C-01F778F19D85}"/>
              </a:ext>
            </a:extLst>
          </p:cNvPr>
          <p:cNvSpPr>
            <a:spLocks noGrp="1"/>
          </p:cNvSpPr>
          <p:nvPr>
            <p:ph idx="1"/>
          </p:nvPr>
        </p:nvSpPr>
        <p:spPr/>
        <p:txBody>
          <a:bodyPr>
            <a:normAutofit/>
          </a:bodyPr>
          <a:lstStyle/>
          <a:p>
            <a:r>
              <a:rPr lang="en-US" dirty="0"/>
              <a:t>The impact of the Rizal Law has been significant in promoting a deeper understanding of Philippine history and the values of freedom, justice, and equality. </a:t>
            </a:r>
          </a:p>
          <a:p>
            <a:r>
              <a:rPr lang="en-US" dirty="0"/>
              <a:t>By studying Rizal's works, students gain insights into the struggles and aspirations of Filipinos during the Spanish colonial period, fostering a sense of national identity and pride. </a:t>
            </a:r>
          </a:p>
          <a:p>
            <a:r>
              <a:rPr lang="en-US" dirty="0"/>
              <a:t>The law continues to be a vital component of the Philippine education system, ensuring that Rizal's legacy remains relevant and influential in shaping the minds of the youth.</a:t>
            </a:r>
          </a:p>
        </p:txBody>
      </p:sp>
    </p:spTree>
    <p:extLst>
      <p:ext uri="{BB962C8B-B14F-4D97-AF65-F5344CB8AC3E}">
        <p14:creationId xmlns:p14="http://schemas.microsoft.com/office/powerpoint/2010/main" val="5489707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BE1C6F-12C2-C9D7-9D3E-A4B2EE983AB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920A351-FD72-E265-8580-C668705A9779}"/>
              </a:ext>
            </a:extLst>
          </p:cNvPr>
          <p:cNvSpPr txBox="1"/>
          <p:nvPr/>
        </p:nvSpPr>
        <p:spPr>
          <a:xfrm>
            <a:off x="560440" y="2039364"/>
            <a:ext cx="11631560" cy="3677930"/>
          </a:xfrm>
          <a:prstGeom prst="rect">
            <a:avLst/>
          </a:prstGeom>
          <a:noFill/>
        </p:spPr>
        <p:txBody>
          <a:bodyPr wrap="square">
            <a:spAutoFit/>
          </a:bodyPr>
          <a:lstStyle/>
          <a:p>
            <a:pPr>
              <a:buNone/>
            </a:pPr>
            <a:endParaRPr lang="en-US" sz="1600" dirty="0"/>
          </a:p>
          <a:p>
            <a:pPr marL="457200" indent="-457200">
              <a:buFont typeface="Arial" panose="020B0604020202020204" pitchFamily="34" charset="0"/>
              <a:buChar char="•"/>
            </a:pPr>
            <a:r>
              <a:rPr lang="en-US" sz="3200" dirty="0">
                <a:solidFill>
                  <a:srgbClr val="000000"/>
                </a:solidFill>
                <a:effectLst/>
                <a:latin typeface="Calibri" panose="020F0502020204030204" pitchFamily="34" charset="0"/>
              </a:rPr>
              <a:t>Republic Act 1425 </a:t>
            </a:r>
          </a:p>
          <a:p>
            <a:endParaRPr lang="en-US" sz="1100" dirty="0"/>
          </a:p>
          <a:p>
            <a:pPr marL="457200" indent="-457200">
              <a:buFont typeface="Arial" panose="020B0604020202020204" pitchFamily="34" charset="0"/>
              <a:buChar char="•"/>
            </a:pPr>
            <a:r>
              <a:rPr lang="en-US" sz="3200" dirty="0">
                <a:solidFill>
                  <a:srgbClr val="000000"/>
                </a:solidFill>
                <a:effectLst/>
                <a:latin typeface="Calibri" panose="020F0502020204030204" pitchFamily="34" charset="0"/>
              </a:rPr>
              <a:t>Revilla, B. (1956). The Rizal Bill: A happy compromise? </a:t>
            </a:r>
            <a:r>
              <a:rPr lang="en-US" sz="3200" i="1" dirty="0">
                <a:solidFill>
                  <a:srgbClr val="000000"/>
                </a:solidFill>
                <a:effectLst/>
                <a:latin typeface="Calibri-Italic"/>
              </a:rPr>
              <a:t>Panorama 8</a:t>
            </a:r>
            <a:r>
              <a:rPr lang="en-US" sz="3200" dirty="0">
                <a:solidFill>
                  <a:srgbClr val="000000"/>
                </a:solidFill>
                <a:effectLst/>
                <a:latin typeface="Calibri" panose="020F0502020204030204" pitchFamily="34" charset="0"/>
              </a:rPr>
              <a:t>(5), 1-4. Manila: Community Publishers. </a:t>
            </a:r>
          </a:p>
          <a:p>
            <a:endParaRPr lang="en-US" sz="1100" dirty="0"/>
          </a:p>
          <a:p>
            <a:pPr marL="457200" indent="-457200">
              <a:buFont typeface="Arial" panose="020B0604020202020204" pitchFamily="34" charset="0"/>
              <a:buChar char="•"/>
            </a:pPr>
            <a:r>
              <a:rPr lang="en-US" sz="3200" dirty="0">
                <a:solidFill>
                  <a:srgbClr val="000000"/>
                </a:solidFill>
                <a:effectLst/>
                <a:latin typeface="Calibri" panose="020F0502020204030204" pitchFamily="34" charset="0"/>
              </a:rPr>
              <a:t>Schumacher, J. (2011). The Rizal Bill of 1956: Horacio de la Costa and the Bishops. </a:t>
            </a:r>
            <a:r>
              <a:rPr lang="en-US" sz="3200" i="1" dirty="0">
                <a:solidFill>
                  <a:srgbClr val="000000"/>
                </a:solidFill>
                <a:effectLst/>
                <a:latin typeface="Calibri-Italic"/>
              </a:rPr>
              <a:t>Philippine Studies 59</a:t>
            </a:r>
            <a:r>
              <a:rPr lang="en-US" sz="3200" dirty="0">
                <a:solidFill>
                  <a:srgbClr val="000000"/>
                </a:solidFill>
                <a:effectLst/>
                <a:latin typeface="Calibri" panose="020F0502020204030204" pitchFamily="34" charset="0"/>
              </a:rPr>
              <a:t>(4), 529-553. https://muse.jhu.edu/article/459188</a:t>
            </a:r>
            <a:endParaRPr lang="en-US" sz="4800" dirty="0"/>
          </a:p>
        </p:txBody>
      </p:sp>
      <p:sp>
        <p:nvSpPr>
          <p:cNvPr id="2" name="TextBox 1">
            <a:extLst>
              <a:ext uri="{FF2B5EF4-FFF2-40B4-BE49-F238E27FC236}">
                <a16:creationId xmlns:a16="http://schemas.microsoft.com/office/drawing/2014/main" id="{BA26661F-6123-356C-4355-8BA1B2AC9A93}"/>
              </a:ext>
            </a:extLst>
          </p:cNvPr>
          <p:cNvSpPr txBox="1"/>
          <p:nvPr/>
        </p:nvSpPr>
        <p:spPr>
          <a:xfrm>
            <a:off x="1195246" y="825909"/>
            <a:ext cx="4512774" cy="1015663"/>
          </a:xfrm>
          <a:prstGeom prst="rect">
            <a:avLst/>
          </a:prstGeom>
          <a:noFill/>
        </p:spPr>
        <p:txBody>
          <a:bodyPr wrap="none" rtlCol="0">
            <a:spAutoFit/>
          </a:bodyPr>
          <a:lstStyle/>
          <a:p>
            <a:r>
              <a:rPr lang="en-US" sz="6000" dirty="0"/>
              <a:t>REFERENCES</a:t>
            </a:r>
          </a:p>
        </p:txBody>
      </p:sp>
    </p:spTree>
    <p:extLst>
      <p:ext uri="{BB962C8B-B14F-4D97-AF65-F5344CB8AC3E}">
        <p14:creationId xmlns:p14="http://schemas.microsoft.com/office/powerpoint/2010/main" val="42268925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D6709C-7E4E-82A6-B5C6-ED4AA3AFA4D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4505524-89DA-74F8-29EF-5155784A914C}"/>
              </a:ext>
            </a:extLst>
          </p:cNvPr>
          <p:cNvPicPr>
            <a:picLocks noChangeAspect="1"/>
          </p:cNvPicPr>
          <p:nvPr/>
        </p:nvPicPr>
        <p:blipFill>
          <a:blip r:embed="rId2"/>
          <a:stretch>
            <a:fillRect/>
          </a:stretch>
        </p:blipFill>
        <p:spPr>
          <a:xfrm>
            <a:off x="0" y="1673"/>
            <a:ext cx="12192000" cy="6854653"/>
          </a:xfrm>
          <a:prstGeom prst="rect">
            <a:avLst/>
          </a:prstGeom>
        </p:spPr>
      </p:pic>
    </p:spTree>
    <p:extLst>
      <p:ext uri="{BB962C8B-B14F-4D97-AF65-F5344CB8AC3E}">
        <p14:creationId xmlns:p14="http://schemas.microsoft.com/office/powerpoint/2010/main" val="1889273636"/>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otalTime>305</TotalTime>
  <Words>1139</Words>
  <Application>Microsoft Office PowerPoint</Application>
  <PresentationFormat>Widescreen</PresentationFormat>
  <Paragraphs>70</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Calibri-Italic</vt:lpstr>
      <vt:lpstr>Gill Sans MT</vt:lpstr>
      <vt:lpstr>Roboto,Bold</vt:lpstr>
      <vt:lpstr>Gallery</vt:lpstr>
      <vt:lpstr>GEDC 1014 (JRIZAL)</vt:lpstr>
      <vt:lpstr>INTRODUCTION</vt:lpstr>
      <vt:lpstr>INTRODUCTION</vt:lpstr>
      <vt:lpstr>WHAT IS RIZAL LAW?</vt:lpstr>
      <vt:lpstr>HISTORY AND DEVELOPMENT OF RIZAL LAW</vt:lpstr>
      <vt:lpstr>HISTORY AND DEVELOPMENT OF RIZAL LAW</vt:lpstr>
      <vt:lpstr>WHY DO WE HAVE RIZAL LAW?</vt:lpstr>
      <vt:lpstr>WHY DO WE HAVE RIZAL LAW?</vt:lpstr>
      <vt:lpstr>WHY DO WE HAVE RIZAL LAW?</vt:lpstr>
      <vt:lpstr>WHY DO WE HAVE RIZAL LAW?</vt:lpstr>
      <vt:lpstr>WHY DO WE HAVE RIZAL LAW?</vt:lpstr>
      <vt:lpstr>IMPLEMENTATION OF RIZAL LAW               IN THE PHILIPPINES</vt:lpstr>
      <vt:lpstr>IMPLEMENTATION OF RIZAL LAW               IN THE PHILIPPINES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Angeles, Jocen (Faculty)</dc:creator>
  <cp:lastModifiedBy>jocen angeles</cp:lastModifiedBy>
  <cp:revision>4</cp:revision>
  <dcterms:created xsi:type="dcterms:W3CDTF">2025-11-03T07:59:19Z</dcterms:created>
  <dcterms:modified xsi:type="dcterms:W3CDTF">2026-08-11T11:51:12Z</dcterms:modified>
</cp:coreProperties>
</file>